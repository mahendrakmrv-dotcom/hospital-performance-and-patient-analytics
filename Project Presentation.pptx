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EB358-8E34-443E-A1E1-9E192466A7AB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B9E9D-16A2-4587-BE53-CD9EAB301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2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51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95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6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7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0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609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55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7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12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9239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82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073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123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94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30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B1F8-EFA2-4AA6-B7D5-7BC4E05434C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809288A-10BC-456C-92C2-39322EAA14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94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Data%20Analyst/Internship%20project/clean/Final_Cleaned_Hospital_Data.csv" TargetMode="External"/><Relationship Id="rId2" Type="http://schemas.openxmlformats.org/officeDocument/2006/relationships/hyperlink" Target="Data%20Analyst/Internship%20project/clean/Hospital_Data.csv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../Internship%20project/HospitalDataAnalysis.pbi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949C60-3048-C309-F162-1C149DF46E90}"/>
              </a:ext>
            </a:extLst>
          </p:cNvPr>
          <p:cNvSpPr txBox="1"/>
          <p:nvPr/>
        </p:nvSpPr>
        <p:spPr>
          <a:xfrm>
            <a:off x="1801368" y="429769"/>
            <a:ext cx="8589264" cy="1077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accent1"/>
                </a:solidFill>
                <a:latin typeface="Engravers MT" panose="02090707080505020304" pitchFamily="18" charset="0"/>
              </a:rPr>
              <a:t>Hospital Performance and Patient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546E9-DBC8-CF2C-AC45-E7EA2AE9BD61}"/>
              </a:ext>
            </a:extLst>
          </p:cNvPr>
          <p:cNvSpPr txBox="1"/>
          <p:nvPr/>
        </p:nvSpPr>
        <p:spPr>
          <a:xfrm>
            <a:off x="2945892" y="2665244"/>
            <a:ext cx="6300216" cy="7694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/>
                </a:solidFill>
                <a:latin typeface="Aptos Display" panose="020B0004020202020204" pitchFamily="34" charset="0"/>
              </a:rPr>
              <a:t>Data Analytics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919D9-0928-C961-8C26-235048939927}"/>
              </a:ext>
            </a:extLst>
          </p:cNvPr>
          <p:cNvSpPr txBox="1"/>
          <p:nvPr/>
        </p:nvSpPr>
        <p:spPr>
          <a:xfrm>
            <a:off x="9246108" y="5380672"/>
            <a:ext cx="3136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gency FB" panose="020B0503020202020204" pitchFamily="34" charset="0"/>
              </a:rPr>
              <a:t>Presented by:</a:t>
            </a:r>
            <a:br>
              <a:rPr lang="en-IN" sz="3600" dirty="0">
                <a:latin typeface="Agency FB" panose="020B0503020202020204" pitchFamily="34" charset="0"/>
              </a:rPr>
            </a:br>
            <a:r>
              <a:rPr lang="en-IN" sz="3600" dirty="0">
                <a:latin typeface="Agency FB" panose="020B0503020202020204" pitchFamily="34" charset="0"/>
              </a:rPr>
              <a:t>Mahendra Kumar V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3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B166B4-F0CD-5E68-C64C-4EBA7983FB98}"/>
              </a:ext>
            </a:extLst>
          </p:cNvPr>
          <p:cNvSpPr txBox="1"/>
          <p:nvPr/>
        </p:nvSpPr>
        <p:spPr>
          <a:xfrm>
            <a:off x="1600200" y="667953"/>
            <a:ext cx="481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Problem Statement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68FDC-7FA8-7DBF-A890-447B96B429D3}"/>
              </a:ext>
            </a:extLst>
          </p:cNvPr>
          <p:cNvSpPr txBox="1"/>
          <p:nvPr/>
        </p:nvSpPr>
        <p:spPr>
          <a:xfrm>
            <a:off x="1556004" y="1560499"/>
            <a:ext cx="907999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b="1" dirty="0"/>
              <a:t>The hospital faced multiple operational challenges: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6CA2C-07AA-9971-AA25-D819D4493382}"/>
              </a:ext>
            </a:extLst>
          </p:cNvPr>
          <p:cNvSpPr txBox="1"/>
          <p:nvPr/>
        </p:nvSpPr>
        <p:spPr>
          <a:xfrm>
            <a:off x="2144268" y="2391490"/>
            <a:ext cx="7123176" cy="40626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• Long patient waiting times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High treatment costs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High readmission rates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No doctor performance metrics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Manual reporting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10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186B1-1653-3208-D8B3-9CD91BE327B2}"/>
              </a:ext>
            </a:extLst>
          </p:cNvPr>
          <p:cNvSpPr txBox="1"/>
          <p:nvPr/>
        </p:nvSpPr>
        <p:spPr>
          <a:xfrm>
            <a:off x="1673352" y="649224"/>
            <a:ext cx="4956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Project objective: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5612D-803A-D5F3-DDCB-3E38D11286BD}"/>
              </a:ext>
            </a:extLst>
          </p:cNvPr>
          <p:cNvSpPr txBox="1"/>
          <p:nvPr/>
        </p:nvSpPr>
        <p:spPr>
          <a:xfrm>
            <a:off x="1673352" y="1763768"/>
            <a:ext cx="9957816" cy="33109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Improve operational efficiency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Enhance patient care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Track and analyze revenue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Evaluate doctor performance using data</a:t>
            </a:r>
          </a:p>
        </p:txBody>
      </p:sp>
    </p:spTree>
    <p:extLst>
      <p:ext uri="{BB962C8B-B14F-4D97-AF65-F5344CB8AC3E}">
        <p14:creationId xmlns:p14="http://schemas.microsoft.com/office/powerpoint/2010/main" val="114023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FA232-CAD6-D4E6-4F39-170A53F0B7E1}"/>
              </a:ext>
            </a:extLst>
          </p:cNvPr>
          <p:cNvSpPr txBox="1"/>
          <p:nvPr/>
        </p:nvSpPr>
        <p:spPr>
          <a:xfrm>
            <a:off x="1636776" y="658368"/>
            <a:ext cx="4562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Dataset overview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2814B-400C-F5DC-A051-5C81393BC5B2}"/>
              </a:ext>
            </a:extLst>
          </p:cNvPr>
          <p:cNvSpPr txBox="1"/>
          <p:nvPr/>
        </p:nvSpPr>
        <p:spPr>
          <a:xfrm>
            <a:off x="950976" y="2136338"/>
            <a:ext cx="11119104" cy="258532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/>
              <a:t>• Raw dataset: </a:t>
            </a:r>
            <a:r>
              <a:rPr lang="en-IN" sz="3200" dirty="0">
                <a:solidFill>
                  <a:srgbClr val="FF000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Hospitaldata.csv</a:t>
            </a:r>
            <a:endParaRPr lang="en-IN" sz="3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3200" dirty="0"/>
              <a:t>• Cleaned dataset: 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Final_Cleaned_Hospital_Data.csv</a:t>
            </a:r>
            <a:endParaRPr lang="en-IN" sz="32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3200" dirty="0"/>
              <a:t>• Data cleaning done using </a:t>
            </a:r>
            <a:r>
              <a:rPr lang="en-IN" sz="3200" b="1" dirty="0">
                <a:solidFill>
                  <a:srgbClr val="000099"/>
                </a:solidFill>
              </a:rPr>
              <a:t>Pandas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10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F8A72B-0660-E773-DDA1-D81D94C1FED3}"/>
              </a:ext>
            </a:extLst>
          </p:cNvPr>
          <p:cNvSpPr txBox="1"/>
          <p:nvPr/>
        </p:nvSpPr>
        <p:spPr>
          <a:xfrm>
            <a:off x="1751076" y="585216"/>
            <a:ext cx="5193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145F8-D72C-28BB-6F76-6DD9109E6906}"/>
              </a:ext>
            </a:extLst>
          </p:cNvPr>
          <p:cNvSpPr txBox="1"/>
          <p:nvPr/>
        </p:nvSpPr>
        <p:spPr>
          <a:xfrm>
            <a:off x="1751076" y="2551837"/>
            <a:ext cx="8860536" cy="175432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Before analysis, data was cleaned using </a:t>
            </a:r>
            <a:r>
              <a:rPr lang="en-US" sz="3600" b="1" dirty="0">
                <a:solidFill>
                  <a:srgbClr val="000099"/>
                </a:solidFill>
              </a:rPr>
              <a:t>Pyt</a:t>
            </a:r>
            <a:r>
              <a:rPr lang="en-US" sz="3600" b="1" dirty="0">
                <a:solidFill>
                  <a:srgbClr val="FFFF66"/>
                </a:solidFill>
              </a:rPr>
              <a:t>hon</a:t>
            </a:r>
            <a:r>
              <a:rPr lang="en-US" sz="3600" b="1" dirty="0">
                <a:solidFill>
                  <a:schemeClr val="tx1"/>
                </a:solidFill>
              </a:rPr>
              <a:t>(</a:t>
            </a:r>
            <a:r>
              <a:rPr lang="en-US" sz="3600" b="1" i="1" dirty="0">
                <a:solidFill>
                  <a:srgbClr val="0070C0"/>
                </a:solidFill>
              </a:rPr>
              <a:t>Pandas</a:t>
            </a:r>
            <a:r>
              <a:rPr lang="en-US" sz="3600" b="1" i="1" dirty="0">
                <a:solidFill>
                  <a:schemeClr val="tx1"/>
                </a:solidFill>
              </a:rPr>
              <a:t> library</a:t>
            </a:r>
            <a:r>
              <a:rPr lang="en-US" sz="3600" b="1" dirty="0">
                <a:solidFill>
                  <a:schemeClr val="tx1"/>
                </a:solidFill>
              </a:rPr>
              <a:t>) </a:t>
            </a:r>
            <a:r>
              <a:rPr lang="en-US" sz="3600" b="1" dirty="0"/>
              <a:t>to ensure accuracy, consistency, and usability.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22920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F9346-5434-5179-3F59-9899E3E137F1}"/>
              </a:ext>
            </a:extLst>
          </p:cNvPr>
          <p:cNvSpPr txBox="1"/>
          <p:nvPr/>
        </p:nvSpPr>
        <p:spPr>
          <a:xfrm>
            <a:off x="1730502" y="661154"/>
            <a:ext cx="6910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DATA CLEANING : </a:t>
            </a:r>
            <a:r>
              <a:rPr lang="en-IN" sz="3200" b="1" dirty="0">
                <a:solidFill>
                  <a:srgbClr val="002060"/>
                </a:solidFill>
              </a:rPr>
              <a:t>Missing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3E46F-7D91-A74B-704F-557B8D6CE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87" y="1551080"/>
            <a:ext cx="5098105" cy="3041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F18B5-4167-E97E-D353-FACE0B203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288" y="1551080"/>
            <a:ext cx="6353881" cy="3041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42011B-729C-BE27-3F26-A1F81DEA553E}"/>
              </a:ext>
            </a:extLst>
          </p:cNvPr>
          <p:cNvSpPr txBox="1"/>
          <p:nvPr/>
        </p:nvSpPr>
        <p:spPr>
          <a:xfrm>
            <a:off x="1400556" y="4897488"/>
            <a:ext cx="9390888" cy="1303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• Identified missing values (NULL, NA, blanks)</a:t>
            </a:r>
            <a:br>
              <a:rPr lang="en-US" sz="2800" b="1" dirty="0"/>
            </a:br>
            <a:r>
              <a:rPr lang="en-US" sz="2800" b="1" dirty="0"/>
              <a:t>• Handled them using appropriate techniques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9851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99279-366D-0380-C7B3-990E4788BC9C}"/>
              </a:ext>
            </a:extLst>
          </p:cNvPr>
          <p:cNvSpPr txBox="1"/>
          <p:nvPr/>
        </p:nvSpPr>
        <p:spPr>
          <a:xfrm>
            <a:off x="1575054" y="636175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DATA CLEANING : </a:t>
            </a:r>
            <a:r>
              <a:rPr lang="en-IN" sz="3200" b="1" dirty="0">
                <a:solidFill>
                  <a:srgbClr val="002060"/>
                </a:solidFill>
              </a:rPr>
              <a:t>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4E59A-3A11-E631-9574-37397CB6B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" t="32994" r="38907"/>
          <a:stretch>
            <a:fillRect/>
          </a:stretch>
        </p:blipFill>
        <p:spPr>
          <a:xfrm>
            <a:off x="356616" y="1523903"/>
            <a:ext cx="6437376" cy="3030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1D098-5B5C-78A5-D953-AE455E06DC86}"/>
              </a:ext>
            </a:extLst>
          </p:cNvPr>
          <p:cNvSpPr txBox="1"/>
          <p:nvPr/>
        </p:nvSpPr>
        <p:spPr>
          <a:xfrm>
            <a:off x="1207008" y="4857221"/>
            <a:ext cx="9043416" cy="1303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• Converted columns into correct data types</a:t>
            </a:r>
            <a:br>
              <a:rPr lang="en-US" sz="2800" b="1" dirty="0"/>
            </a:br>
            <a:r>
              <a:rPr lang="en-US" sz="2800" b="1" dirty="0"/>
              <a:t>• Ensured numerical and date fields were usable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47F9BD-2BC9-29D5-86BA-324B9DFFF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776" y="1523903"/>
            <a:ext cx="5064669" cy="303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5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C51CFF-8B93-F0FA-5B79-70B0743D555E}"/>
              </a:ext>
            </a:extLst>
          </p:cNvPr>
          <p:cNvSpPr txBox="1"/>
          <p:nvPr/>
        </p:nvSpPr>
        <p:spPr>
          <a:xfrm>
            <a:off x="1565910" y="663230"/>
            <a:ext cx="7660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DATA CLEANING : </a:t>
            </a:r>
            <a:r>
              <a:rPr lang="en-IN" sz="3200" b="1" dirty="0">
                <a:solidFill>
                  <a:srgbClr val="002060"/>
                </a:solidFill>
              </a:rPr>
              <a:t>Standardization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24A70F-E1A2-BAEC-3D01-0426BB61E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4" y="1512456"/>
            <a:ext cx="5013228" cy="3542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A44C94-9C81-D4F5-814E-7DF7B2A34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369" y="1512456"/>
            <a:ext cx="3511127" cy="7839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D39DE7-92E2-25C6-A917-BF0CE2669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369" y="2767341"/>
            <a:ext cx="1705213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8FEDC8-3F6E-1F78-482B-F1C1410A8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369" y="4764332"/>
            <a:ext cx="1571844" cy="181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87E7B2-5CF7-FB87-9E5D-47BA67E7C9DF}"/>
              </a:ext>
            </a:extLst>
          </p:cNvPr>
          <p:cNvSpPr txBox="1"/>
          <p:nvPr/>
        </p:nvSpPr>
        <p:spPr>
          <a:xfrm>
            <a:off x="6096000" y="2384464"/>
            <a:ext cx="283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 cleaning: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0848DE-72B1-7180-7C05-09DDBD4750E8}"/>
              </a:ext>
            </a:extLst>
          </p:cNvPr>
          <p:cNvSpPr txBox="1"/>
          <p:nvPr/>
        </p:nvSpPr>
        <p:spPr>
          <a:xfrm>
            <a:off x="6097524" y="33506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cleaning: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BFC14B-05C7-B720-5F0D-CF4DC32BAC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369" y="3740936"/>
            <a:ext cx="5197463" cy="6829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7782B60-1866-7764-512E-914D104C6CC3}"/>
              </a:ext>
            </a:extLst>
          </p:cNvPr>
          <p:cNvSpPr txBox="1"/>
          <p:nvPr/>
        </p:nvSpPr>
        <p:spPr>
          <a:xfrm>
            <a:off x="1407414" y="5319048"/>
            <a:ext cx="9377172" cy="113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• Standardized categorical values (Yes/No, text formats)</a:t>
            </a:r>
            <a:br>
              <a:rPr lang="en-US" sz="2400" b="1" dirty="0"/>
            </a:br>
            <a:r>
              <a:rPr lang="en-US" sz="2400" b="1" dirty="0"/>
              <a:t>• Fixed inconsistent departments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4548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77758-75AA-9403-B07A-4166BA2D66DA}"/>
              </a:ext>
            </a:extLst>
          </p:cNvPr>
          <p:cNvSpPr txBox="1"/>
          <p:nvPr/>
        </p:nvSpPr>
        <p:spPr>
          <a:xfrm>
            <a:off x="1538478" y="661154"/>
            <a:ext cx="8135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DATA CLEANING : </a:t>
            </a:r>
            <a:r>
              <a:rPr lang="en-IN" sz="3200" b="1" dirty="0">
                <a:solidFill>
                  <a:srgbClr val="002060"/>
                </a:solidFill>
              </a:rPr>
              <a:t>Final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8E5FE-D845-7999-40F5-47E77EA73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78" y="4506528"/>
            <a:ext cx="5712714" cy="2267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FC491-0054-E50F-FBD6-8ED6FBBFF774}"/>
              </a:ext>
            </a:extLst>
          </p:cNvPr>
          <p:cNvSpPr txBox="1"/>
          <p:nvPr/>
        </p:nvSpPr>
        <p:spPr>
          <a:xfrm>
            <a:off x="1538478" y="1245929"/>
            <a:ext cx="621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• Generated a clean and structured dataset</a:t>
            </a:r>
            <a:br>
              <a:rPr lang="en-US" b="1" dirty="0"/>
            </a:br>
            <a:r>
              <a:rPr lang="en-US" b="1" dirty="0"/>
              <a:t>• Ready for SQL and Power BI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2504AE-DA4C-5960-6367-418D8CAEA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78" y="2122555"/>
            <a:ext cx="9068562" cy="22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3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65F00-2978-DF8B-2230-2A0E469EBA82}"/>
              </a:ext>
            </a:extLst>
          </p:cNvPr>
          <p:cNvSpPr txBox="1"/>
          <p:nvPr/>
        </p:nvSpPr>
        <p:spPr>
          <a:xfrm>
            <a:off x="1691640" y="557784"/>
            <a:ext cx="5294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SQL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58739-CD3E-45B1-D559-A937A9AFBA5C}"/>
              </a:ext>
            </a:extLst>
          </p:cNvPr>
          <p:cNvSpPr txBox="1"/>
          <p:nvPr/>
        </p:nvSpPr>
        <p:spPr>
          <a:xfrm>
            <a:off x="2331720" y="1861840"/>
            <a:ext cx="6675120" cy="313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b="1" dirty="0"/>
              <a:t>• Imported cleaned data into SQL</a:t>
            </a:r>
            <a:br>
              <a:rPr lang="en-US" sz="2800" b="1" dirty="0"/>
            </a:br>
            <a:r>
              <a:rPr lang="en-US" sz="2800" b="1" dirty="0"/>
              <a:t>• Modified incorrect data types</a:t>
            </a:r>
            <a:br>
              <a:rPr lang="en-US" sz="2800" b="1" dirty="0"/>
            </a:br>
            <a:r>
              <a:rPr lang="en-US" sz="2800" b="1" dirty="0"/>
              <a:t>• Performed validation and analysis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277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48172-F10C-81A4-207F-C57BA01ED6F2}"/>
              </a:ext>
            </a:extLst>
          </p:cNvPr>
          <p:cNvSpPr txBox="1"/>
          <p:nvPr/>
        </p:nvSpPr>
        <p:spPr>
          <a:xfrm>
            <a:off x="3933444" y="0"/>
            <a:ext cx="544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Overview</a:t>
            </a:r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308B3-46B1-909A-A506-63664EE25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51" y="690791"/>
            <a:ext cx="6086067" cy="30216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0DCD4-27DC-8C15-D916-E2BF38964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870" y="690791"/>
            <a:ext cx="6156279" cy="30216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Left"/>
            <a:lightRig rig="threePt" dir="t"/>
          </a:scene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C50B71-CD03-43F9-7D11-92163E722787}"/>
              </a:ext>
            </a:extLst>
          </p:cNvPr>
          <p:cNvSpPr txBox="1"/>
          <p:nvPr/>
        </p:nvSpPr>
        <p:spPr>
          <a:xfrm>
            <a:off x="1921029" y="4099298"/>
            <a:ext cx="947318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Built an interactive Power BI dashboard to analyze: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Waiting time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Treatment cost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Readmission rate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Doctor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Revenue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721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6D669-9787-9071-1AB7-B8AEC61AB285}"/>
              </a:ext>
            </a:extLst>
          </p:cNvPr>
          <p:cNvSpPr txBox="1"/>
          <p:nvPr/>
        </p:nvSpPr>
        <p:spPr>
          <a:xfrm>
            <a:off x="1581912" y="630936"/>
            <a:ext cx="5001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Waiting Time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297F5-6B43-4640-D213-A30C1827A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40" y="1690716"/>
            <a:ext cx="5001768" cy="26673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1DDBE-8FB8-A06D-17D6-26097E3B126F}"/>
              </a:ext>
            </a:extLst>
          </p:cNvPr>
          <p:cNvSpPr txBox="1"/>
          <p:nvPr/>
        </p:nvSpPr>
        <p:spPr>
          <a:xfrm>
            <a:off x="1581912" y="4833119"/>
            <a:ext cx="74797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•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Cardiology</a:t>
            </a:r>
            <a:r>
              <a:rPr lang="en-US" sz="2800" b="1" dirty="0"/>
              <a:t> has highest waiting time</a:t>
            </a:r>
            <a:br>
              <a:rPr lang="en-US" sz="2800" b="1" dirty="0"/>
            </a:br>
            <a:r>
              <a:rPr lang="en-US" sz="2800" b="1" dirty="0"/>
              <a:t>• </a:t>
            </a:r>
            <a:r>
              <a:rPr lang="en-US" sz="2800" b="1" dirty="0">
                <a:solidFill>
                  <a:srgbClr val="00B0F0"/>
                </a:solidFill>
              </a:rPr>
              <a:t>Pediatrics</a:t>
            </a:r>
            <a:r>
              <a:rPr lang="en-US" sz="2800" b="1" dirty="0"/>
              <a:t> has lowest</a:t>
            </a:r>
            <a:br>
              <a:rPr lang="en-US" sz="2800" b="1" dirty="0"/>
            </a:br>
            <a:r>
              <a:rPr lang="en-US" sz="2800" b="1" dirty="0"/>
              <a:t>• Indicates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resource imbalance</a:t>
            </a:r>
            <a:endParaRPr lang="en-IN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652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CB3E3D-AE33-1264-2BA3-37C631CA3DC3}"/>
              </a:ext>
            </a:extLst>
          </p:cNvPr>
          <p:cNvSpPr txBox="1"/>
          <p:nvPr/>
        </p:nvSpPr>
        <p:spPr>
          <a:xfrm>
            <a:off x="1629918" y="62457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Cost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73D6A-69FB-73AD-FFF0-C63F07672D8B}"/>
              </a:ext>
            </a:extLst>
          </p:cNvPr>
          <p:cNvSpPr txBox="1"/>
          <p:nvPr/>
        </p:nvSpPr>
        <p:spPr>
          <a:xfrm>
            <a:off x="1271016" y="4233672"/>
            <a:ext cx="1083564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• </a:t>
            </a:r>
            <a:r>
              <a:rPr lang="en-US" b="1" dirty="0">
                <a:solidFill>
                  <a:schemeClr val="accent2"/>
                </a:solidFill>
              </a:rPr>
              <a:t>Surgical treatments </a:t>
            </a:r>
            <a:r>
              <a:rPr lang="en-US" b="1" dirty="0"/>
              <a:t>consistently show the highest average cost, indicating resource-intensive procedures</a:t>
            </a:r>
            <a:br>
              <a:rPr lang="en-US" b="1" dirty="0"/>
            </a:br>
            <a:r>
              <a:rPr lang="en-US" b="1" dirty="0"/>
              <a:t>• </a:t>
            </a:r>
            <a:r>
              <a:rPr lang="en-US" b="1" dirty="0">
                <a:solidFill>
                  <a:srgbClr val="00B050"/>
                </a:solidFill>
              </a:rPr>
              <a:t>Observation-based treatments </a:t>
            </a:r>
            <a:r>
              <a:rPr lang="en-US" b="1" dirty="0"/>
              <a:t>have significantly lower costs, making them the most economical option</a:t>
            </a:r>
            <a:br>
              <a:rPr lang="en-US" b="1" dirty="0"/>
            </a:br>
            <a:r>
              <a:rPr lang="en-US" b="1" dirty="0"/>
              <a:t>• This suggests that </a:t>
            </a:r>
            <a:r>
              <a:rPr lang="en-US" b="1" dirty="0">
                <a:solidFill>
                  <a:srgbClr val="000099"/>
                </a:solidFill>
              </a:rPr>
              <a:t>cost optimization efforts should focus on high-frequency surgical procedures</a:t>
            </a:r>
            <a:endParaRPr lang="en-IN" b="1" dirty="0">
              <a:solidFill>
                <a:srgbClr val="00009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C292B-8774-3F58-19F4-D59DE984B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201" y="1619215"/>
            <a:ext cx="4163006" cy="24673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798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CF7D5-4918-D31D-C037-367E343E2331}"/>
              </a:ext>
            </a:extLst>
          </p:cNvPr>
          <p:cNvSpPr txBox="1"/>
          <p:nvPr/>
        </p:nvSpPr>
        <p:spPr>
          <a:xfrm>
            <a:off x="1664208" y="4078224"/>
            <a:ext cx="10360152" cy="265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• </a:t>
            </a:r>
            <a:r>
              <a:rPr lang="en-US" b="1" dirty="0">
                <a:solidFill>
                  <a:schemeClr val="accent1"/>
                </a:solidFill>
              </a:rPr>
              <a:t>Cardiology</a:t>
            </a:r>
            <a:r>
              <a:rPr lang="en-US" b="1" dirty="0"/>
              <a:t> and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Orthopedics</a:t>
            </a:r>
            <a:r>
              <a:rPr lang="en-US" b="1" dirty="0"/>
              <a:t> shows the highest readmission rate, indicating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possible challenges in handling complex cases</a:t>
            </a:r>
            <a:br>
              <a:rPr lang="en-US" b="1" dirty="0"/>
            </a:br>
            <a:r>
              <a:rPr lang="en-US" b="1" dirty="0"/>
              <a:t>• Other departments show relatively lower readmission rates, suggesting better recovery outcomes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  Patient satisfaction differs across doctors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5A7B6-67DD-E4A9-B298-51B33A26990D}"/>
              </a:ext>
            </a:extLst>
          </p:cNvPr>
          <p:cNvSpPr txBox="1"/>
          <p:nvPr/>
        </p:nvSpPr>
        <p:spPr>
          <a:xfrm>
            <a:off x="1664208" y="701879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Patient Care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E9EDF-83B4-5F4D-50B5-5AF2118C1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288" y="1563992"/>
            <a:ext cx="4821491" cy="22368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E6FB08-9AAE-70B8-41BC-6FA8038ED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63992"/>
            <a:ext cx="5871193" cy="22368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4007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C5CD6-0D40-1E7D-076A-057C5DF921A2}"/>
              </a:ext>
            </a:extLst>
          </p:cNvPr>
          <p:cNvSpPr txBox="1"/>
          <p:nvPr/>
        </p:nvSpPr>
        <p:spPr>
          <a:xfrm>
            <a:off x="1684782" y="59714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Revenue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18EF3-967F-DFE5-56B1-0F673B3D2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47682" b="-1662"/>
          <a:stretch>
            <a:fillRect/>
          </a:stretch>
        </p:blipFill>
        <p:spPr>
          <a:xfrm>
            <a:off x="1684782" y="1569757"/>
            <a:ext cx="4231386" cy="22005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61983-8A50-D8FC-D61A-0C07A363C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578" y="1569757"/>
            <a:ext cx="3901438" cy="2152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22D8D5-861C-6CBF-1232-2D0BFAF23C2C}"/>
              </a:ext>
            </a:extLst>
          </p:cNvPr>
          <p:cNvSpPr txBox="1"/>
          <p:nvPr/>
        </p:nvSpPr>
        <p:spPr>
          <a:xfrm>
            <a:off x="1453516" y="4096619"/>
            <a:ext cx="10872596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• </a:t>
            </a:r>
            <a:r>
              <a:rPr lang="en-US" b="1" dirty="0">
                <a:solidFill>
                  <a:srgbClr val="FF0000"/>
                </a:solidFill>
              </a:rPr>
              <a:t>Cardiology</a:t>
            </a:r>
            <a:r>
              <a:rPr lang="en-US" b="1" dirty="0"/>
              <a:t> contributes the highest share of hospital revenue, driven by high-cost treatments and patient volume</a:t>
            </a:r>
            <a:br>
              <a:rPr lang="en-US" b="1" dirty="0"/>
            </a:br>
            <a:r>
              <a:rPr lang="en-US" b="1" dirty="0"/>
              <a:t>• Revenue is concentrated among a few departments, indicating dependency on specific specialties</a:t>
            </a:r>
            <a:br>
              <a:rPr lang="en-US" b="1" dirty="0"/>
            </a:br>
            <a:r>
              <a:rPr lang="en-US" b="1" dirty="0"/>
              <a:t>• Revenue trends over time show stable growth, helping in </a:t>
            </a:r>
            <a:r>
              <a:rPr lang="en-US" b="1" dirty="0">
                <a:solidFill>
                  <a:srgbClr val="000099"/>
                </a:solidFill>
              </a:rPr>
              <a:t>financial planning </a:t>
            </a:r>
            <a:r>
              <a:rPr lang="en-US" b="1" dirty="0"/>
              <a:t>and </a:t>
            </a:r>
            <a:r>
              <a:rPr lang="en-US" b="1" dirty="0">
                <a:solidFill>
                  <a:srgbClr val="000099"/>
                </a:solidFill>
              </a:rPr>
              <a:t>resource allocation</a:t>
            </a:r>
            <a:endParaRPr lang="en-IN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36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E3C2DC-9FF3-4D44-53C6-7138F3F7C8DF}"/>
              </a:ext>
            </a:extLst>
          </p:cNvPr>
          <p:cNvSpPr txBox="1"/>
          <p:nvPr/>
        </p:nvSpPr>
        <p:spPr>
          <a:xfrm>
            <a:off x="1620774" y="62457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36AC2-4D17-54DD-0A87-C72FF884ABA8}"/>
              </a:ext>
            </a:extLst>
          </p:cNvPr>
          <p:cNvSpPr txBox="1"/>
          <p:nvPr/>
        </p:nvSpPr>
        <p:spPr>
          <a:xfrm>
            <a:off x="1620774" y="1314354"/>
            <a:ext cx="9774936" cy="514660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• </a:t>
            </a:r>
            <a:r>
              <a:rPr lang="en-US" sz="24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Cardiology</a:t>
            </a:r>
            <a:r>
              <a:rPr lang="en-US" sz="2400" dirty="0"/>
              <a:t> experiences the longest waiting times, indicating potential resource constraints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u="sng" dirty="0">
                <a:solidFill>
                  <a:srgbClr val="00B050"/>
                </a:solidFill>
              </a:rPr>
              <a:t>Surgical treatments </a:t>
            </a:r>
            <a:r>
              <a:rPr lang="en-US" sz="2400" dirty="0"/>
              <a:t>are the primary cost drivers in the hospital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i="1" u="sng" dirty="0">
                <a:solidFill>
                  <a:srgbClr val="0070C0"/>
                </a:solidFill>
              </a:rPr>
              <a:t>Cardiology has higher readmission rates</a:t>
            </a:r>
            <a:r>
              <a:rPr lang="en-US" sz="2400" dirty="0"/>
              <a:t>, suggesting areas for improvement in patient care</a:t>
            </a:r>
            <a:br>
              <a:rPr lang="en-US" sz="2400" dirty="0"/>
            </a:br>
            <a:r>
              <a:rPr lang="en-US" sz="2400" dirty="0"/>
              <a:t>• Doctors such as </a:t>
            </a:r>
            <a:r>
              <a:rPr lang="en-US" sz="2400" b="1" dirty="0"/>
              <a:t>Dr. Smith and Dr. Patel</a:t>
            </a:r>
            <a:r>
              <a:rPr lang="en-US" sz="2400" dirty="0"/>
              <a:t> perform better in terms of patient satisfaction, while others may require improvement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50886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4B783-57CD-1003-245D-0FD04DEE23DD}"/>
              </a:ext>
            </a:extLst>
          </p:cNvPr>
          <p:cNvSpPr txBox="1"/>
          <p:nvPr/>
        </p:nvSpPr>
        <p:spPr>
          <a:xfrm>
            <a:off x="1620774" y="642866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53797-4D9C-21AC-A9BC-96853C5B9E7B}"/>
              </a:ext>
            </a:extLst>
          </p:cNvPr>
          <p:cNvSpPr txBox="1"/>
          <p:nvPr/>
        </p:nvSpPr>
        <p:spPr>
          <a:xfrm>
            <a:off x="1828800" y="1952345"/>
            <a:ext cx="8165592" cy="2953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i="1" dirty="0"/>
              <a:t>• Identified operational inefficiencies</a:t>
            </a:r>
            <a:br>
              <a:rPr lang="en-US" sz="3200" i="1" dirty="0"/>
            </a:br>
            <a:r>
              <a:rPr lang="en-US" sz="3200" i="1" dirty="0"/>
              <a:t>• Improved data visibility</a:t>
            </a:r>
            <a:br>
              <a:rPr lang="en-US" sz="3200" i="1" dirty="0"/>
            </a:br>
            <a:r>
              <a:rPr lang="en-US" sz="3200" i="1" dirty="0"/>
              <a:t>• Enabled data-driven decisions</a:t>
            </a:r>
            <a:br>
              <a:rPr lang="en-US" sz="3200" i="1" dirty="0"/>
            </a:br>
            <a:r>
              <a:rPr lang="en-US" sz="3200" i="1" dirty="0"/>
              <a:t>• Provided actionable insights</a:t>
            </a:r>
            <a:endParaRPr lang="en-IN" sz="3200" i="1" dirty="0"/>
          </a:p>
        </p:txBody>
      </p:sp>
    </p:spTree>
    <p:extLst>
      <p:ext uri="{BB962C8B-B14F-4D97-AF65-F5344CB8AC3E}">
        <p14:creationId xmlns:p14="http://schemas.microsoft.com/office/powerpoint/2010/main" val="310239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72BB-A32C-C5D4-A063-95D108615A07}"/>
              </a:ext>
            </a:extLst>
          </p:cNvPr>
          <p:cNvSpPr txBox="1"/>
          <p:nvPr/>
        </p:nvSpPr>
        <p:spPr>
          <a:xfrm>
            <a:off x="1629918" y="67029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Future Scope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AF100-94F2-C8D2-3B2B-D7842E24D50C}"/>
              </a:ext>
            </a:extLst>
          </p:cNvPr>
          <p:cNvSpPr txBox="1"/>
          <p:nvPr/>
        </p:nvSpPr>
        <p:spPr>
          <a:xfrm>
            <a:off x="2506980" y="2221992"/>
            <a:ext cx="7178040" cy="2214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• Predict readmission using ML</a:t>
            </a:r>
            <a:br>
              <a:rPr lang="en-US" sz="3200" dirty="0"/>
            </a:br>
            <a:r>
              <a:rPr lang="en-US" sz="3200" dirty="0"/>
              <a:t>• Automate reporting system</a:t>
            </a:r>
            <a:br>
              <a:rPr lang="en-US" sz="3200" dirty="0"/>
            </a:br>
            <a:r>
              <a:rPr lang="en-US" sz="3200" dirty="0"/>
              <a:t>• Real-time dashboard integration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10117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61CD3-41F3-9BB1-DD80-704E5264CB3A}"/>
              </a:ext>
            </a:extLst>
          </p:cNvPr>
          <p:cNvSpPr txBox="1"/>
          <p:nvPr/>
        </p:nvSpPr>
        <p:spPr>
          <a:xfrm>
            <a:off x="3211068" y="2228671"/>
            <a:ext cx="5769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7460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657</TotalTime>
  <Words>508</Words>
  <Application>Microsoft Office PowerPoint</Application>
  <PresentationFormat>Widescreen</PresentationFormat>
  <Paragraphs>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Agency FB</vt:lpstr>
      <vt:lpstr>Aptos Display</vt:lpstr>
      <vt:lpstr>Arial</vt:lpstr>
      <vt:lpstr>Calibri</vt:lpstr>
      <vt:lpstr>Century Gothic</vt:lpstr>
      <vt:lpstr>Engravers MT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Mahendra Kumar</dc:creator>
  <cp:lastModifiedBy>Mahendra Kumar</cp:lastModifiedBy>
  <cp:revision>23</cp:revision>
  <dcterms:created xsi:type="dcterms:W3CDTF">2026-03-18T09:41:44Z</dcterms:created>
  <dcterms:modified xsi:type="dcterms:W3CDTF">2026-03-20T06:41:45Z</dcterms:modified>
</cp:coreProperties>
</file>